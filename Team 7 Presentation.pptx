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300" b="1" i="0" dirty="0">
                <a:solidFill>
                  <a:srgbClr val="FFFFFF"/>
                </a:solidFill>
                <a:latin typeface="Calibri"/>
              </a:rPr>
              <a:t>Using Cloud Infrastructure as Code (</a:t>
            </a:r>
            <a:r>
              <a:rPr sz="3300" b="1" i="0" dirty="0" err="1">
                <a:solidFill>
                  <a:srgbClr val="FFFFFF"/>
                </a:solidFill>
                <a:latin typeface="Calibri"/>
              </a:rPr>
              <a:t>IaC</a:t>
            </a:r>
            <a:r>
              <a:rPr sz="3300" b="1" i="0" dirty="0">
                <a:solidFill>
                  <a:srgbClr val="FFFFFF"/>
                </a:solidFill>
                <a:latin typeface="Calibri"/>
              </a:rPr>
              <a:t>)</a:t>
            </a:r>
          </a:p>
          <a:p>
            <a:pPr algn="ctr"/>
            <a:r>
              <a:rPr sz="3300" b="1" i="0" dirty="0">
                <a:solidFill>
                  <a:srgbClr val="FFFFFF"/>
                </a:solidFill>
                <a:latin typeface="Calibri"/>
              </a:rPr>
              <a:t>to Deploy a Web Application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3547872"/>
            <a:ext cx="91440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E8F3F6"/>
                </a:solidFill>
                <a:latin typeface="Calibri"/>
              </a:rPr>
              <a:t>Cloud Computing  ·  CSE456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416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6FE3E0"/>
                </a:solidFill>
                <a:latin typeface="Calibri"/>
              </a:rPr>
              <a:t>Supervised by Dr. Wagdy Anis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621127" y="4572000"/>
          <a:ext cx="6949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24C63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128016" marR="128016" anchor="ctr">
                    <a:solidFill>
                      <a:srgbClr val="6FE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4C63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128016" marR="128016" anchor="ctr">
                    <a:solidFill>
                      <a:srgbClr val="6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Ahmed Mohamed Elsayed Tabbash</a:t>
                      </a:r>
                    </a:p>
                  </a:txBody>
                  <a:tcPr marL="128016" marR="128016" anchor="ctr">
                    <a:solidFill>
                      <a:srgbClr val="1B63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20P1076</a:t>
                      </a:r>
                    </a:p>
                  </a:txBody>
                  <a:tcPr marL="128016" marR="128016" anchor="ctr">
                    <a:solidFill>
                      <a:srgbClr val="1B6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Yaman Abdelhamid Elewa</a:t>
                      </a:r>
                    </a:p>
                  </a:txBody>
                  <a:tcPr marL="128016" marR="128016" anchor="ctr">
                    <a:solidFill>
                      <a:srgbClr val="0C38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2002078</a:t>
                      </a:r>
                    </a:p>
                  </a:txBody>
                  <a:tcPr marL="128016" marR="128016" anchor="ctr">
                    <a:solidFill>
                      <a:srgbClr val="0C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Ahmed Abdallah Nofull</a:t>
                      </a:r>
                    </a:p>
                  </a:txBody>
                  <a:tcPr marL="128016" marR="128016" anchor="ctr">
                    <a:solidFill>
                      <a:srgbClr val="1B63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22P0255</a:t>
                      </a:r>
                    </a:p>
                  </a:txBody>
                  <a:tcPr marL="128016" marR="128016" anchor="ctr">
                    <a:solidFill>
                      <a:srgbClr val="1B6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Ferass Ahmed Mostafa</a:t>
                      </a:r>
                    </a:p>
                  </a:txBody>
                  <a:tcPr marL="128016" marR="128016" anchor="ctr">
                    <a:solidFill>
                      <a:srgbClr val="0C38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23P0304</a:t>
                      </a:r>
                    </a:p>
                  </a:txBody>
                  <a:tcPr marL="128016" marR="128016" anchor="ctr">
                    <a:solidFill>
                      <a:srgbClr val="0C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7369839-E264-AFF9-5E0D-A4645EE7A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406" y="222108"/>
            <a:ext cx="4338538" cy="2314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Why build infrastructure by hand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Clicking through a web console to build a network is slow and hard to repeat.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Nobody can review what was clicked — there is no record, only the result.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Rebuilding the same environment twice gives you two slightly different environments.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A mistake made by hand gets fixed by hand — over and over, inconsistently.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10789920" cy="1005840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41793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 dirty="0">
                <a:solidFill>
                  <a:srgbClr val="124C63"/>
                </a:solidFill>
                <a:latin typeface="Calibri"/>
              </a:rPr>
              <a:t>Infrastructure as Code: describe the infrastructure in a file  let the cloud build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Deploy a web application on AWS using IaC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One CloudFormation template  +  one JSON parameter file.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Zero manual configuration of individual resources.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A network across two Availability Zones, web servers hidden in private subnets.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A load balancer as the single public entry point.</a:t>
            </a:r>
          </a:p>
          <a:p>
            <a:pPr>
              <a:spcAft>
                <a:spcPts val="18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—  Prove it survives a server failure — and can be destroyed cleanly.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Two Availability Zones · public tier in front, private tier behind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874519"/>
            <a:ext cx="3749039" cy="685800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920240"/>
            <a:ext cx="374903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24C63"/>
                </a:solidFill>
                <a:latin typeface="Calibri"/>
              </a:rPr>
              <a:t>Application Load Balancer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60604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E8F3F6"/>
                </a:solidFill>
                <a:latin typeface="Calibri"/>
              </a:rPr>
              <a:t>one fixed public DNS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063240"/>
            <a:ext cx="4206240" cy="2697480"/>
          </a:xfrm>
          <a:prstGeom prst="rect">
            <a:avLst/>
          </a:prstGeom>
          <a:noFill/>
          <a:ln w="12700">
            <a:solidFill>
              <a:srgbClr val="1B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314553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FE3E0"/>
                </a:solidFill>
                <a:latin typeface="Calibri"/>
              </a:rPr>
              <a:t>Availability Zone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4752" y="3520440"/>
            <a:ext cx="3703320" cy="777240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4752" y="3566160"/>
            <a:ext cx="3703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Public subnet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NAT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4752" y="4434840"/>
            <a:ext cx="37033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44752" y="4480560"/>
            <a:ext cx="3703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24C63"/>
                </a:solidFill>
                <a:latin typeface="Calibri"/>
              </a:rPr>
              <a:t>Private subnet</a:t>
            </a:r>
          </a:p>
          <a:p>
            <a:pPr algn="ctr"/>
            <a:r>
              <a:rPr sz="1400" b="1" i="0">
                <a:solidFill>
                  <a:srgbClr val="124C63"/>
                </a:solidFill>
                <a:latin typeface="Calibri"/>
              </a:rPr>
              <a:t>EC2 web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063240"/>
            <a:ext cx="4206240" cy="2697480"/>
          </a:xfrm>
          <a:prstGeom prst="rect">
            <a:avLst/>
          </a:prstGeom>
          <a:noFill/>
          <a:ln w="12700">
            <a:solidFill>
              <a:srgbClr val="1B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314553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FE3E0"/>
                </a:solidFill>
                <a:latin typeface="Calibri"/>
              </a:rPr>
              <a:t>Availability Zone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592" y="3520440"/>
            <a:ext cx="3703320" cy="777240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2592" y="3566160"/>
            <a:ext cx="3703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Public subnet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NAT 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4434840"/>
            <a:ext cx="37033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22592" y="4480560"/>
            <a:ext cx="3703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24C63"/>
                </a:solidFill>
                <a:latin typeface="Calibri"/>
              </a:rPr>
              <a:t>Private subnet</a:t>
            </a:r>
          </a:p>
          <a:p>
            <a:pPr algn="ctr"/>
            <a:r>
              <a:rPr sz="1400" b="1" i="0">
                <a:solidFill>
                  <a:srgbClr val="124C63"/>
                </a:solidFill>
                <a:latin typeface="Calibri"/>
              </a:rPr>
              <a:t>EC2 web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6FE3E0"/>
                </a:solidFill>
                <a:latin typeface="Calibri"/>
              </a:rPr>
              <a:t>Auto-Scaling Group keeps 2 servers running (max 3) — one in each zone.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32 resources, defined declaratively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—  infrastructure.yaml — the template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VPC, 4 subnets, Internet Gateway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2 NAT Gateways + Elastic IPs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3 route tables, security groups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Load Balancer, Target Group, Listener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Launch Template + Auto-Scaling Group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—  params.json — the configuration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CIDR ranges, environment name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E8F3F6"/>
                </a:solidFill>
                <a:latin typeface="Calibri"/>
              </a:rPr>
              <a:t>·  instance type, AMI (auto-resolved)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65960"/>
            <a:ext cx="5212080" cy="3931920"/>
          </a:xfrm>
          <a:prstGeom prst="rect">
            <a:avLst/>
          </a:prstGeom>
          <a:solidFill>
            <a:srgbClr val="0C384A"/>
          </a:solidFill>
          <a:ln w="12700">
            <a:solidFill>
              <a:srgbClr val="1B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ServersAutoScalingGroup: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 Type: AWS::AutoScaling::AutoScalingGroup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FE3E0"/>
                </a:solidFill>
                <a:latin typeface="Consolas"/>
              </a:rPr>
              <a:t>  DependsOn: [PrivRoute1, PrivRoute2]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 Properties: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   MinSize: '2'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   MaxSize: '3'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   VPCZoneIdentifier: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FE3E0"/>
                </a:solidFill>
                <a:latin typeface="Consolas"/>
              </a:rPr>
              <a:t>      - !Ref PrivateSubnet1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FE3E0"/>
                </a:solidFill>
                <a:latin typeface="Consolas"/>
              </a:rPr>
              <a:t>      - !Ref PrivateSubnet2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    TargetGroupARNs: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FE3E0"/>
                </a:solidFill>
                <a:latin typeface="Consolas"/>
              </a:rPr>
              <a:t>      - !Ref LBTargetGroup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CREATE_COMPLETE — all 32 resources built in dependency order</a:t>
            </a:r>
          </a:p>
        </p:txBody>
      </p:sp>
      <p:pic>
        <p:nvPicPr>
          <p:cNvPr id="6" name="Picture 5" descr="Screenshot (532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74519"/>
            <a:ext cx="9601200" cy="4205525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Parameters &amp;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Configuration in — load balancer URL out</a:t>
            </a:r>
          </a:p>
        </p:txBody>
      </p:sp>
      <p:pic>
        <p:nvPicPr>
          <p:cNvPr id="6" name="Picture 5" descr="Screenshot (533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577840" cy="2158507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  <p:pic>
        <p:nvPicPr>
          <p:cNvPr id="7" name="Picture 6" descr="Screenshot (532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46" y="1920240"/>
            <a:ext cx="5367586" cy="2194560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3434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FE3E0"/>
                </a:solidFill>
                <a:latin typeface="Calibri"/>
              </a:rPr>
              <a:t>The 8 input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434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FE3E0"/>
                </a:solidFill>
                <a:latin typeface="Calibri"/>
              </a:rPr>
              <a:t>The 4 exported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E8F3F6"/>
                </a:solidFill>
                <a:latin typeface="Calibri"/>
              </a:rPr>
              <a:t>The machine image is resolved automatically at deploy time —</a:t>
            </a:r>
          </a:p>
          <a:p>
            <a:pPr algn="ctr"/>
            <a:r>
              <a:rPr sz="1800" b="0" i="0">
                <a:solidFill>
                  <a:srgbClr val="E8F3F6"/>
                </a:solidFill>
                <a:latin typeface="Calibri"/>
              </a:rPr>
              <a:t>the template is not tied to any region.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Served by EC2 instances in the private subnets, through the Load Balancer</a:t>
            </a:r>
          </a:p>
        </p:txBody>
      </p:sp>
      <p:pic>
        <p:nvPicPr>
          <p:cNvPr id="6" name="Picture 5" descr="Screenshot (53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74519"/>
            <a:ext cx="8138160" cy="4115704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The Real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41848" y="3291840"/>
            <a:ext cx="91440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 i="0">
                <a:solidFill>
                  <a:srgbClr val="6FE3E0"/>
                </a:solidFill>
                <a:latin typeface="Calibri"/>
              </a:rPr>
              <a:t>What happens if we destroy a running server?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 i="0">
                <a:solidFill>
                  <a:srgbClr val="E8F3F6"/>
                </a:solidFill>
                <a:latin typeface="Calibri"/>
              </a:rPr>
              <a:t>We terminated one on purpose.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Recovery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Terminate one instance → Auto-Scaling replaces it automatically</a:t>
            </a:r>
          </a:p>
        </p:txBody>
      </p:sp>
      <p:pic>
        <p:nvPicPr>
          <p:cNvPr id="6" name="Picture 5" descr="Screenshot (533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95" y="1920240"/>
            <a:ext cx="5359848" cy="2057400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  <p:pic>
        <p:nvPicPr>
          <p:cNvPr id="7" name="Picture 6" descr="Screenshot (533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974" y="1920240"/>
            <a:ext cx="5323730" cy="2057400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1605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6FE3E0"/>
                </a:solidFill>
                <a:latin typeface="Calibri"/>
              </a:rPr>
              <a:t>1.  Instance terminated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6FE3E0"/>
                </a:solidFill>
                <a:latin typeface="Calibri"/>
              </a:rPr>
              <a:t>2.  Replacement launched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789920" cy="1280160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24C63"/>
                </a:solidFill>
                <a:latin typeface="Calibri"/>
              </a:rPr>
              <a:t>The Load Balancer DNS never changed.</a:t>
            </a:r>
          </a:p>
          <a:p>
            <a:pPr algn="ctr"/>
            <a:r>
              <a:rPr sz="1800" b="1" i="0">
                <a:solidFill>
                  <a:srgbClr val="124C63"/>
                </a:solidFill>
                <a:latin typeface="Calibri"/>
              </a:rPr>
              <a:t>The site stayed reachable at the same URL while its server was destroyed and rebuilt.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 Bug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And why IaC made it a one-line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—  The servers came up unhealthy — the load balancer returned 502.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—  The boot log showed yum could not reach the package repositories. Apache was never installed.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FFFFF"/>
                </a:solidFill>
                <a:latin typeface="Calibri"/>
              </a:rPr>
              <a:t>—  Cause: instances were launched before the NAT Gateway routes existed, so the private servers had no path to the internet at boot.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10789920" cy="960120"/>
          </a:xfrm>
          <a:prstGeom prst="rect">
            <a:avLst/>
          </a:prstGeom>
          <a:solidFill>
            <a:srgbClr val="0C384A"/>
          </a:solidFill>
          <a:ln w="12700">
            <a:solidFill>
              <a:srgbClr val="6F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6FE3E0"/>
                </a:solidFill>
                <a:latin typeface="Consolas"/>
              </a:rPr>
              <a:t>DependsOn: [PrivRoute1, PrivRoute2]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Fixed once, in code — the fix now applies to every future deployment,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Teardown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One operation removes everything — no orphaned resources, no cost</a:t>
            </a:r>
          </a:p>
        </p:txBody>
      </p:sp>
      <p:pic>
        <p:nvPicPr>
          <p:cNvPr id="6" name="Picture 5" descr="Screenshot (53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15" y="1920240"/>
            <a:ext cx="5505209" cy="3108960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  <p:pic>
        <p:nvPicPr>
          <p:cNvPr id="7" name="Picture 6" descr="Screenshot (533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577840" cy="2199179"/>
          </a:xfrm>
          <a:prstGeom prst="rect">
            <a:avLst/>
          </a:prstGeom>
          <a:ln w="12700">
            <a:solidFill>
              <a:srgbClr val="6FE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2120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6FE3E0"/>
                </a:solidFill>
                <a:latin typeface="Calibri"/>
              </a:rPr>
              <a:t>DELETE_IN_PROGRESS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2120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6FE3E0"/>
                </a:solidFill>
                <a:latin typeface="Calibri"/>
              </a:rPr>
              <a:t>DELETE_COMPLETE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70432"/>
            <a:ext cx="146304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40280" y="1179576"/>
            <a:ext cx="9281160" cy="18288"/>
          </a:xfrm>
          <a:prstGeom prst="rect">
            <a:avLst/>
          </a:prstGeom>
          <a:solidFill>
            <a:srgbClr val="1B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E8F3F6"/>
                </a:solidFill>
                <a:latin typeface="Calibri"/>
              </a:rPr>
              <a:t>What Infrastructure as Code actually bought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dirty="0">
                <a:solidFill>
                  <a:srgbClr val="FFFFFF"/>
                </a:solidFill>
                <a:latin typeface="Calibri"/>
              </a:rPr>
              <a:t>—  A complete web application environment, deployed with zero manual configuration.</a:t>
            </a:r>
          </a:p>
          <a:p>
            <a:pPr>
              <a:spcAft>
                <a:spcPts val="1800"/>
              </a:spcAft>
            </a:pPr>
            <a:r>
              <a:rPr sz="2200" dirty="0">
                <a:solidFill>
                  <a:srgbClr val="FFFFFF"/>
                </a:solidFill>
                <a:latin typeface="Calibri"/>
              </a:rPr>
              <a:t>—  Rebuildable identically, in any region, in about 15 minutes.</a:t>
            </a:r>
          </a:p>
          <a:p>
            <a:pPr>
              <a:spcAft>
                <a:spcPts val="1800"/>
              </a:spcAft>
            </a:pPr>
            <a:r>
              <a:rPr sz="2200" dirty="0">
                <a:solidFill>
                  <a:srgbClr val="FFFFFF"/>
                </a:solidFill>
                <a:latin typeface="Calibri"/>
              </a:rPr>
              <a:t>—  It absorbed the loss of a server — no human intervention, no change of address.</a:t>
            </a:r>
          </a:p>
          <a:p>
            <a:pPr>
              <a:spcAft>
                <a:spcPts val="1800"/>
              </a:spcAft>
            </a:pPr>
            <a:r>
              <a:rPr sz="2200" dirty="0">
                <a:solidFill>
                  <a:srgbClr val="FFFFFF"/>
                </a:solidFill>
                <a:latin typeface="Calibri"/>
              </a:rPr>
              <a:t>—  A defect was fixed once, in code — not repeatedly,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74725"/>
            <a:ext cx="10789920" cy="914400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799" y="5539565"/>
            <a:ext cx="10265923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900" b="1" i="0" dirty="0">
                <a:solidFill>
                  <a:srgbClr val="124C63"/>
                </a:solidFill>
                <a:latin typeface="Calibri"/>
              </a:rPr>
              <a:t>Infrastructure as Code enables the infrastructure to be deployed, rebuilt, and managed consistently.</a:t>
            </a:r>
            <a:endParaRPr sz="1900" b="1" i="0" dirty="0">
              <a:solidFill>
                <a:srgbClr val="124C6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51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641848" y="3794760"/>
            <a:ext cx="914400" cy="41148"/>
          </a:xfrm>
          <a:prstGeom prst="rect">
            <a:avLst/>
          </a:prstGeom>
          <a:solidFill>
            <a:srgbClr val="6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6FE3E0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E8F3F6"/>
                </a:solidFill>
                <a:latin typeface="Calibri"/>
              </a:rPr>
              <a:t>Team 7  ·  CSE456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716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yaman elewa</cp:lastModifiedBy>
  <cp:revision>4</cp:revision>
  <dcterms:created xsi:type="dcterms:W3CDTF">2013-01-27T09:14:16Z</dcterms:created>
  <dcterms:modified xsi:type="dcterms:W3CDTF">2026-07-13T17:01:19Z</dcterms:modified>
  <cp:category/>
</cp:coreProperties>
</file>